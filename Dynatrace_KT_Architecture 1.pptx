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80" r:id="rId11"/>
    <p:sldId id="271" r:id="rId12"/>
    <p:sldId id="272" r:id="rId13"/>
    <p:sldId id="265" r:id="rId14"/>
    <p:sldId id="264" r:id="rId15"/>
    <p:sldId id="273" r:id="rId16"/>
    <p:sldId id="274" r:id="rId17"/>
    <p:sldId id="267" r:id="rId18"/>
    <p:sldId id="275" r:id="rId19"/>
    <p:sldId id="276" r:id="rId20"/>
    <p:sldId id="277" r:id="rId21"/>
    <p:sldId id="278" r:id="rId22"/>
    <p:sldId id="279" r:id="rId23"/>
    <p:sldId id="266" r:id="rId24"/>
    <p:sldId id="268" r:id="rId25"/>
    <p:sldId id="26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B7DDB-E742-2CB4-21CA-833C778CA670}" v="115" dt="2026-08-02T15:40:14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402F7-7700-4E38-B032-2D97C9447A46}" type="datetimeFigureOut"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34427-E4A1-4D7D-97F6-E7C92A0614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8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F0BD-69CB-0C92-436E-7C76AE6CA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AB7FE-1E06-8875-4ED0-E511EC6E8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972B8-38E5-431B-07C0-C9ED38086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6A5B7-CB0A-81EE-AF85-690BD74F2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23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4023360" cy="402336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Dynatrace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1440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i="1">
                <a:solidFill>
                  <a:srgbClr val="CFEDE9"/>
                </a:solidFill>
                <a:latin typeface="Calibri"/>
                <a:ea typeface="Calibri"/>
                <a:cs typeface="Calibri"/>
              </a:rPr>
              <a:t>Architecture, </a:t>
            </a:r>
            <a:r>
              <a:rPr lang="en-US" sz="2200" i="1">
                <a:solidFill>
                  <a:srgbClr val="CFEDE9"/>
                </a:solidFill>
                <a:ea typeface="+mn-lt"/>
                <a:cs typeface="+mn-lt"/>
              </a:rPr>
              <a:t>Data Collection &amp; End-to-End Observability</a:t>
            </a:r>
            <a:endParaRPr lang="en-US" sz="2200" i="1"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20116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300" dirty="0">
              <a:solidFill>
                <a:srgbClr val="9FC9C4"/>
              </a:solidFill>
              <a:ea typeface="+mn-lt"/>
              <a:cs typeface="+mn-lt"/>
            </a:endParaRPr>
          </a:p>
          <a:p>
            <a:endParaRPr lang="en-US" sz="1300" dirty="0">
              <a:solidFill>
                <a:srgbClr val="9FC9C4"/>
              </a:solidFill>
              <a:ea typeface="+mn-lt"/>
              <a:cs typeface="+mn-lt"/>
            </a:endParaRPr>
          </a:p>
          <a:p>
            <a:endParaRPr lang="en-US" sz="1300" dirty="0">
              <a:solidFill>
                <a:srgbClr val="9FC9C4"/>
              </a:solidFill>
              <a:ea typeface="+mn-lt"/>
              <a:cs typeface="+mn-lt"/>
            </a:endParaRPr>
          </a:p>
          <a:p>
            <a:endParaRPr lang="en-US" sz="1300" dirty="0">
              <a:solidFill>
                <a:srgbClr val="9FC9C4"/>
              </a:solidFill>
              <a:ea typeface="+mn-lt"/>
              <a:cs typeface="+mn-lt"/>
            </a:endParaRPr>
          </a:p>
          <a:p>
            <a:r>
              <a:rPr lang="en-US" sz="1300">
                <a:solidFill>
                  <a:srgbClr val="9FC9C4"/>
                </a:solidFill>
                <a:latin typeface="Palatino Linotype"/>
                <a:ea typeface="+mn-lt"/>
                <a:cs typeface="+mn-lt"/>
              </a:rPr>
              <a:t>Presented by:</a:t>
            </a:r>
            <a:endParaRPr lang="en-US" sz="1300">
              <a:solidFill>
                <a:srgbClr val="9FC9C4"/>
              </a:solidFill>
              <a:latin typeface="Palatino Linotype"/>
              <a:ea typeface="Calibri"/>
              <a:cs typeface="Calibri"/>
            </a:endParaRPr>
          </a:p>
          <a:p>
            <a:endParaRPr lang="en-US" sz="1300" u="sng" dirty="0">
              <a:solidFill>
                <a:srgbClr val="9FC9C4"/>
              </a:solidFill>
              <a:latin typeface="Palatino Linotype"/>
              <a:ea typeface="+mn-lt"/>
              <a:cs typeface="+mn-lt"/>
            </a:endParaRPr>
          </a:p>
          <a:p>
            <a:r>
              <a:rPr lang="en-US" sz="1300">
                <a:solidFill>
                  <a:srgbClr val="9FC9C4"/>
                </a:solidFill>
                <a:latin typeface="Palatino Linotype"/>
                <a:ea typeface="+mn-lt"/>
                <a:cs typeface="+mn-lt"/>
              </a:rPr>
              <a:t>Prem Kumar Vula - Site Reliability Engineer</a:t>
            </a:r>
            <a:endParaRPr lang="en-US">
              <a:latin typeface="Palatino Linotype"/>
            </a:endParaRPr>
          </a:p>
          <a:p>
            <a:endParaRPr lang="en-US"/>
          </a:p>
          <a:p>
            <a:r>
              <a:rPr lang="en-US" sz="1300">
                <a:solidFill>
                  <a:srgbClr val="9FC9C4"/>
                </a:solidFill>
                <a:latin typeface="Palatino Linotype"/>
                <a:ea typeface="+mn-lt"/>
                <a:cs typeface="+mn-lt"/>
              </a:rPr>
              <a:t>03 August 2026</a:t>
            </a:r>
            <a:endParaRPr lang="en-US">
              <a:latin typeface="Palatino Linotype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for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Dynatrace?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3591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full-stack observability matters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019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vs Observability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0" y="23591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mindset shift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564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B2B2A"/>
                </a:solidFill>
                <a:ea typeface="+mn-lt"/>
                <a:cs typeface="+mn-lt"/>
              </a:rPr>
              <a:t>Dynatrace</a:t>
            </a:r>
            <a:r>
              <a:rPr lang="en-US" sz="1600">
                <a:solidFill>
                  <a:srgbClr val="1B2B2A"/>
                </a:solidFill>
                <a:ea typeface="+mn-lt"/>
                <a:cs typeface="+mn-lt"/>
              </a:rPr>
              <a:t> </a:t>
            </a:r>
            <a:r>
              <a:rPr lang="en-US" sz="1600" b="1">
                <a:solidFill>
                  <a:srgbClr val="1B2B2A"/>
                </a:solidFill>
                <a:ea typeface="+mn-lt"/>
                <a:cs typeface="+mn-lt"/>
              </a:rPr>
              <a:t>Architecture</a:t>
            </a:r>
            <a:r>
              <a:rPr lang="en-US" sz="1600" b="1" dirty="0">
                <a:solidFill>
                  <a:srgbClr val="1B2B2A"/>
                </a:solidFill>
                <a:latin typeface="Calibri"/>
                <a:ea typeface="Calibri"/>
                <a:cs typeface="Calibri"/>
              </a:rPr>
              <a:t> Deep Dive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00" y="3913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OneAgent, ActiveGate, SaaS, Davis 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291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4564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68096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1B2B2A"/>
                </a:solidFill>
                <a:ea typeface="+mn-lt"/>
                <a:cs typeface="+mn-lt"/>
              </a:rPr>
              <a:t>How </a:t>
            </a:r>
            <a:r>
              <a:rPr lang="en-US" sz="1600" b="1" dirty="0" err="1">
                <a:solidFill>
                  <a:srgbClr val="1B2B2A"/>
                </a:solidFill>
                <a:ea typeface="+mn-lt"/>
                <a:cs typeface="+mn-lt"/>
              </a:rPr>
              <a:t>OneAgent</a:t>
            </a:r>
            <a:r>
              <a:rPr lang="en-US" sz="1600" b="1" dirty="0">
                <a:solidFill>
                  <a:srgbClr val="1B2B2A"/>
                </a:solidFill>
                <a:ea typeface="+mn-lt"/>
                <a:cs typeface="+mn-lt"/>
              </a:rPr>
              <a:t> Collects Data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0" y="3913632"/>
            <a:ext cx="39319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B6E6C"/>
                </a:solidFill>
                <a:latin typeface="Calibri"/>
                <a:ea typeface="Calibri"/>
                <a:cs typeface="Calibri"/>
              </a:rPr>
              <a:t>OneAgent</a:t>
            </a:r>
            <a:r>
              <a:rPr lang="en-US" sz="1250" dirty="0">
                <a:solidFill>
                  <a:srgbClr val="5B6E6C"/>
                </a:solidFill>
                <a:latin typeface="Calibri"/>
                <a:ea typeface="Calibri"/>
                <a:cs typeface="Calibri"/>
              </a:rPr>
              <a:t> runs as a </a:t>
            </a:r>
            <a:r>
              <a:rPr lang="en-US" sz="1250" dirty="0" err="1">
                <a:solidFill>
                  <a:srgbClr val="5B6E6C"/>
                </a:solidFill>
                <a:latin typeface="Calibri"/>
                <a:ea typeface="Calibri"/>
                <a:cs typeface="Calibri"/>
              </a:rPr>
              <a:t>DaemonSet</a:t>
            </a:r>
            <a:endParaRPr lang="en-US" sz="12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109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82880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Flow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4681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 &amp; traces end-to-end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7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0109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68096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B2B2A"/>
                </a:solidFill>
                <a:ea typeface="+mn-lt"/>
                <a:cs typeface="+mn-lt"/>
              </a:rPr>
              <a:t>Live Architecture Demo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80960" y="5468112"/>
            <a:ext cx="39319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>
                <a:solidFill>
                  <a:srgbClr val="5B6E6C"/>
                </a:solidFill>
                <a:ea typeface="+mn-lt"/>
                <a:cs typeface="+mn-lt"/>
              </a:rPr>
              <a:t>Dashboards SLI &amp; SLO</a:t>
            </a:r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Dynatrace?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all-in-one Observability Platform that monitors applications, servers, Kubernetes clusters, cloud services, databases, and real user experience — from a single pane of glass.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083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application healthy?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655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database responding properly?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0325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227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 is causing the issue?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799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users facing errors right now?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160020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07332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9202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500+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315200" y="28803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hundreds of apps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657600"/>
            <a:ext cx="3474720" cy="0"/>
          </a:xfrm>
          <a:prstGeom prst="line">
            <a:avLst/>
          </a:prstGeom>
          <a:noFill/>
          <a:ln w="12700">
            <a:solidFill>
              <a:srgbClr val="1E5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8404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Dynatrace, engineers manually log into servers, pull logs, and check CPU / memory / network one by one — costing hours during an outage.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0" y="5166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automates this — pinpointing the app, server, database, and root cause automatically.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vs Observability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SOMETHING is wrong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364992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644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80% → Alert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67912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673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&gt; 90% → Alert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370832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702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&gt; 85% → Alert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873752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7731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threshold-based checks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5120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“CPU looks normal, memory looks normal... but users still complain.”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07332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380" dirty="0"/>
          </a:p>
        </p:txBody>
      </p:sp>
      <p:sp>
        <p:nvSpPr>
          <p:cNvPr id="21" name="Text 19"/>
          <p:cNvSpPr/>
          <p:nvPr/>
        </p:nvSpPr>
        <p:spPr>
          <a:xfrm>
            <a:off x="740664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2743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WHY it is wrong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364992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2644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— what is happening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3867912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7673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— what exactly happened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0" y="4370832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2702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— the full request path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0" y="4873752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7731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→ automatic root cause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83680" y="5120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“Authentication service waiting 6 seconds for the database — that's the root cause.”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Three Pillars of Observability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10972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1031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values over time — CPU, memory, disk, response time, request count, error rate.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2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737360"/>
            <a:ext cx="3611880" cy="109728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5875020" y="21031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8750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060" dirty="0"/>
          </a:p>
        </p:txBody>
      </p:sp>
      <p:sp>
        <p:nvSpPr>
          <p:cNvPr id="15" name="Text 13"/>
          <p:cNvSpPr/>
          <p:nvPr/>
        </p:nvSpPr>
        <p:spPr>
          <a:xfrm>
            <a:off x="4480560" y="31089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35204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happened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event records — connection failures, exceptions, authentication errors, timeouts.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17373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2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1737360"/>
            <a:ext cx="3611880" cy="10972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9806940" y="21031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8069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060" dirty="0"/>
          </a:p>
        </p:txBody>
      </p:sp>
      <p:sp>
        <p:nvSpPr>
          <p:cNvPr id="22" name="Text 20"/>
          <p:cNvSpPr/>
          <p:nvPr/>
        </p:nvSpPr>
        <p:spPr>
          <a:xfrm>
            <a:off x="8412480" y="31089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35204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0" y="40233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single request end-to-end: Load Balancer → App → Auth → Database → Response.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Dynatrace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60020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794760" y="16550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947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containers, pods, processes, services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2313432"/>
            <a:ext cx="0" cy="201168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251460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2569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476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per host — auto-discovers everything, collects metrics/logs/traces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3227832"/>
            <a:ext cx="0" cy="201168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342900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483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gateway — routes, filters &amp; optionally caches data (optional layer)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4142232"/>
            <a:ext cx="0" cy="201168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434340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43982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SaaS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that stores and processes all telemetry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5056632"/>
            <a:ext cx="0" cy="201168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525780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5312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9476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data automatically → root cause, dashboards, alerts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32520" y="3648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 443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OneAgent — The Data Collector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installed on every host, VM, or Kubernetes node. It auto-discovers everything running on that machine — no manual instrumentation, no code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28" dirty="0"/>
          </a:p>
        </p:txBody>
      </p:sp>
      <p:sp>
        <p:nvSpPr>
          <p:cNvPr id="7" name="Text 5"/>
          <p:cNvSpPr/>
          <p:nvPr/>
        </p:nvSpPr>
        <p:spPr>
          <a:xfrm>
            <a:off x="1097280" y="27614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0815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containers, services, processes &amp; nodes detected automatically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28" dirty="0"/>
          </a:p>
        </p:txBody>
      </p:sp>
      <p:sp>
        <p:nvSpPr>
          <p:cNvPr id="11" name="Text 9"/>
          <p:cNvSpPr/>
          <p:nvPr/>
        </p:nvSpPr>
        <p:spPr>
          <a:xfrm>
            <a:off x="1097280" y="360273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visibility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9227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application, and user-experience layers in one agent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28" dirty="0"/>
          </a:p>
        </p:txBody>
      </p:sp>
      <p:sp>
        <p:nvSpPr>
          <p:cNvPr id="15" name="Text 13"/>
          <p:cNvSpPr/>
          <p:nvPr/>
        </p:nvSpPr>
        <p:spPr>
          <a:xfrm>
            <a:off x="1097280" y="44439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76402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SDK, no manual tracing calls — instrumentation is automatic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126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12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28" dirty="0"/>
          </a:p>
        </p:txBody>
      </p:sp>
      <p:sp>
        <p:nvSpPr>
          <p:cNvPr id="19" name="Text 17"/>
          <p:cNvSpPr/>
          <p:nvPr/>
        </p:nvSpPr>
        <p:spPr>
          <a:xfrm>
            <a:off x="1097280" y="528523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collection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6052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and distributed traces streamed in real 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160020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07332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22860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(DaemonSet)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0" y="30632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E4A44"/>
          </a:solidFill>
          <a:ln w="12700">
            <a:solidFill>
              <a:srgbClr val="1E5C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0632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3685032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E4A44"/>
          </a:solidFill>
          <a:ln w="12700">
            <a:solidFill>
              <a:srgbClr val="1E5C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6850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306824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E4A44"/>
          </a:solidFill>
          <a:ln w="12700">
            <a:solidFill>
              <a:srgbClr val="1E5C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30682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497433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watches every pod on this node and reports up automatically.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02 &amp;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ActiveGate &amp; Davis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ActiveGate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routing layer (optional)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364992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46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OneAgent and Dynatrace SaaS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044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secure outbound HTTPS traffic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681728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628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monitoring of environments without direct internet access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340096"/>
            <a:ext cx="128016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2212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cloud, extension &amp; synthetic monitoring too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07332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380" dirty="0"/>
          </a:p>
        </p:txBody>
      </p:sp>
      <p:sp>
        <p:nvSpPr>
          <p:cNvPr id="20" name="Text 18"/>
          <p:cNvSpPr/>
          <p:nvPr/>
        </p:nvSpPr>
        <p:spPr>
          <a:xfrm>
            <a:off x="740664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Davis AI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causation engine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3364992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246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metrics, logs &amp; traces automatically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4023360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9044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root cause from downstream symptoms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4681728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5628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Problem Cards with the exact culprit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5340096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52212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Mean Time To Resolution (MTTR)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8C1EC0-626E-CA60-E119-0664710D5F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7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23B21-3381-617F-7AAD-BAB55B00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F37DA3-B141-A890-9B00-AE0C2667D59B}"/>
              </a:ext>
            </a:extLst>
          </p:cNvPr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WHAT WE'RE MONITORING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65A057-1196-60B4-E946-FC0596922415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— Application Architecture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8B004C3-D4AB-18D2-042C-FD59B8BC7ED5}"/>
              </a:ext>
            </a:extLst>
          </p:cNvPr>
          <p:cNvSpPr/>
          <p:nvPr/>
        </p:nvSpPr>
        <p:spPr>
          <a:xfrm>
            <a:off x="3108960" y="1371600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22D3C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2CC3EF-F8E2-CF49-45EB-4941AB161853}"/>
              </a:ext>
            </a:extLst>
          </p:cNvPr>
          <p:cNvSpPr/>
          <p:nvPr/>
        </p:nvSpPr>
        <p:spPr>
          <a:xfrm>
            <a:off x="3108960" y="13716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Users</a:t>
            </a:r>
            <a:endParaRPr lang="en-US" sz="13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7B051A4-AB9A-4ECC-1A54-324A5632BEA0}"/>
              </a:ext>
            </a:extLst>
          </p:cNvPr>
          <p:cNvSpPr/>
          <p:nvPr/>
        </p:nvSpPr>
        <p:spPr>
          <a:xfrm>
            <a:off x="6035040" y="1828800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836E86-0B4A-B417-F225-D27B9F8DEFFF}"/>
              </a:ext>
            </a:extLst>
          </p:cNvPr>
          <p:cNvSpPr/>
          <p:nvPr/>
        </p:nvSpPr>
        <p:spPr>
          <a:xfrm>
            <a:off x="3108960" y="1956816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87C4E45-5325-FDC2-F318-F5B530AAFF1E}"/>
              </a:ext>
            </a:extLst>
          </p:cNvPr>
          <p:cNvSpPr/>
          <p:nvPr/>
        </p:nvSpPr>
        <p:spPr>
          <a:xfrm>
            <a:off x="3108960" y="195681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DNS</a:t>
            </a:r>
            <a:endParaRPr lang="en-US" sz="13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612D72F-C860-C9A1-BB9C-F4C5C2708167}"/>
              </a:ext>
            </a:extLst>
          </p:cNvPr>
          <p:cNvSpPr/>
          <p:nvPr/>
        </p:nvSpPr>
        <p:spPr>
          <a:xfrm>
            <a:off x="6035040" y="2414016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8A4AEEA-DBD2-0FDA-36F6-117F6BEC5CAC}"/>
              </a:ext>
            </a:extLst>
          </p:cNvPr>
          <p:cNvSpPr/>
          <p:nvPr/>
        </p:nvSpPr>
        <p:spPr>
          <a:xfrm>
            <a:off x="3108960" y="2542032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7200046-1CAC-5D5A-D62C-41A3296FEC56}"/>
              </a:ext>
            </a:extLst>
          </p:cNvPr>
          <p:cNvSpPr/>
          <p:nvPr/>
        </p:nvSpPr>
        <p:spPr>
          <a:xfrm>
            <a:off x="3108960" y="25420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(reverse proxy, static files)</a:t>
            </a:r>
            <a:endParaRPr lang="en-US" sz="13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4AB60E4-49C4-02F8-B4DF-0756D7615877}"/>
              </a:ext>
            </a:extLst>
          </p:cNvPr>
          <p:cNvSpPr/>
          <p:nvPr/>
        </p:nvSpPr>
        <p:spPr>
          <a:xfrm>
            <a:off x="6035040" y="2999232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4E1B5C3-83E0-FFBD-FDA4-0C9731C34BA9}"/>
              </a:ext>
            </a:extLst>
          </p:cNvPr>
          <p:cNvSpPr/>
          <p:nvPr/>
        </p:nvSpPr>
        <p:spPr>
          <a:xfrm>
            <a:off x="3108960" y="3127248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F4F8422-BC48-5BE0-3DE8-9453643EC113}"/>
              </a:ext>
            </a:extLst>
          </p:cNvPr>
          <p:cNvSpPr/>
          <p:nvPr/>
        </p:nvSpPr>
        <p:spPr>
          <a:xfrm>
            <a:off x="3108960" y="31272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(WSGI workers)</a:t>
            </a:r>
            <a:endParaRPr lang="en-US" sz="13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E557599-2FE7-1B1C-AD36-5A1BAB1F0F91}"/>
              </a:ext>
            </a:extLst>
          </p:cNvPr>
          <p:cNvSpPr/>
          <p:nvPr/>
        </p:nvSpPr>
        <p:spPr>
          <a:xfrm>
            <a:off x="6035040" y="3584448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5650A73-8FF3-13C4-0AF2-28C7FAA506A5}"/>
              </a:ext>
            </a:extLst>
          </p:cNvPr>
          <p:cNvSpPr/>
          <p:nvPr/>
        </p:nvSpPr>
        <p:spPr>
          <a:xfrm>
            <a:off x="3108960" y="3712464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24314F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8732882-DFD2-EE55-45EF-28DE5FE8DC72}"/>
              </a:ext>
            </a:extLst>
          </p:cNvPr>
          <p:cNvSpPr/>
          <p:nvPr/>
        </p:nvSpPr>
        <p:spPr>
          <a:xfrm>
            <a:off x="3108960" y="371246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— Samsung SmartStore</a:t>
            </a:r>
            <a:endParaRPr lang="en-US" sz="13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C445B2D-8C3F-86A5-B466-9281BB6C1F74}"/>
              </a:ext>
            </a:extLst>
          </p:cNvPr>
          <p:cNvSpPr/>
          <p:nvPr/>
        </p:nvSpPr>
        <p:spPr>
          <a:xfrm>
            <a:off x="6035040" y="4169664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09E4D96-81EF-A8F3-1375-F783760E0769}"/>
              </a:ext>
            </a:extLst>
          </p:cNvPr>
          <p:cNvSpPr/>
          <p:nvPr/>
        </p:nvSpPr>
        <p:spPr>
          <a:xfrm>
            <a:off x="3108960" y="4297680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EE21B2C-3B80-C357-445A-A4F0A1840BF0}"/>
              </a:ext>
            </a:extLst>
          </p:cNvPr>
          <p:cNvSpPr/>
          <p:nvPr/>
        </p:nvSpPr>
        <p:spPr>
          <a:xfrm>
            <a:off x="3108960" y="42976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3B5955-24D2-27FF-410E-745644232DD6}"/>
              </a:ext>
            </a:extLst>
          </p:cNvPr>
          <p:cNvSpPr/>
          <p:nvPr/>
        </p:nvSpPr>
        <p:spPr>
          <a:xfrm>
            <a:off x="6035040" y="4754880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1E40A7F-A77A-D49B-4975-99AB01F5253E}"/>
              </a:ext>
            </a:extLst>
          </p:cNvPr>
          <p:cNvSpPr/>
          <p:nvPr/>
        </p:nvSpPr>
        <p:spPr>
          <a:xfrm>
            <a:off x="3108960" y="4882896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74724F3-DE57-5B26-0F0D-24B446905F50}"/>
              </a:ext>
            </a:extLst>
          </p:cNvPr>
          <p:cNvSpPr/>
          <p:nvPr/>
        </p:nvSpPr>
        <p:spPr>
          <a:xfrm>
            <a:off x="3108960" y="488289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3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91C7552-757E-FBBF-F5A4-44E69D28CAF3}"/>
              </a:ext>
            </a:extLst>
          </p:cNvPr>
          <p:cNvSpPr/>
          <p:nvPr/>
        </p:nvSpPr>
        <p:spPr>
          <a:xfrm>
            <a:off x="6035040" y="5340096"/>
            <a:ext cx="0" cy="128016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D167DB2-B4B3-0151-8271-C674B971E4CA}"/>
              </a:ext>
            </a:extLst>
          </p:cNvPr>
          <p:cNvSpPr/>
          <p:nvPr/>
        </p:nvSpPr>
        <p:spPr>
          <a:xfrm>
            <a:off x="3108960" y="5468112"/>
            <a:ext cx="5852160" cy="457200"/>
          </a:xfrm>
          <a:prstGeom prst="roundRect">
            <a:avLst>
              <a:gd name="adj" fmla="val 14000"/>
            </a:avLst>
          </a:prstGeom>
          <a:solidFill>
            <a:srgbClr val="141C2E"/>
          </a:solidFill>
          <a:ln w="15875">
            <a:solidFill>
              <a:srgbClr val="22D3C9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EDE20E0-8236-1063-397B-17C89C81E0C2}"/>
              </a:ext>
            </a:extLst>
          </p:cNvPr>
          <p:cNvSpPr/>
          <p:nvPr/>
        </p:nvSpPr>
        <p:spPr>
          <a:xfrm>
            <a:off x="3108960" y="546811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(Amazon Linux 2023)</a:t>
            </a:r>
            <a:endParaRPr lang="en-US" sz="13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58E37D-EDDA-CCE9-4302-0A9329C887AD}"/>
              </a:ext>
            </a:extLst>
          </p:cNvPr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layers is where OneAgent quietly attaches and starts collecting telemetry — no code changes required.</a:t>
            </a:r>
            <a:endParaRPr lang="en-US" sz="12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ADDD6E4-154D-3B88-410A-E4B4BD07D7C0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Application Architecture (5 min)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5E582CB-F5D1-E192-E972-6D090A9DBF57}"/>
              </a:ext>
            </a:extLst>
          </p:cNvPr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0675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DYNATRACE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→ ActiveGate → SaaS → Davis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77440" y="1417320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17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0" y="14173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 hitting the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1984248"/>
            <a:ext cx="0" cy="91440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2075688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22D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0756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(EC2 / Docker)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0" y="20756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Gunicorn, Flask, 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642616"/>
            <a:ext cx="0" cy="91440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77440" y="2734056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24314F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73405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0" y="273405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the host — auto-discovers processes, collects metrics/logs/traces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300984"/>
            <a:ext cx="0" cy="91440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77440" y="3392424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9AA6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39242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ActiveGate (optional)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0" y="33924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gateway for private/enterprise networks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959352"/>
            <a:ext cx="0" cy="91440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77440" y="4050792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22D3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05079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SaaS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0" y="40507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processes all telemetry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4617720"/>
            <a:ext cx="0" cy="91440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77440" y="4709160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24314F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709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0" y="47091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everything, finds root cause automatically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5276088"/>
            <a:ext cx="0" cy="91440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77440" y="5367528"/>
            <a:ext cx="7406640" cy="566928"/>
          </a:xfrm>
          <a:prstGeom prst="roundRect">
            <a:avLst>
              <a:gd name="adj" fmla="val 11290"/>
            </a:avLst>
          </a:prstGeom>
          <a:solidFill>
            <a:srgbClr val="141C2E"/>
          </a:solidFill>
          <a:ln w="15875">
            <a:solidFill>
              <a:srgbClr val="22D3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53675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Problems · Alerts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69280" y="5367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SRE actually sees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Dynatrace Architecture (8 min)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39615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NARRATIVE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Flow That Explains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website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554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1901952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reaches EC2 / Docker container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554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1901952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processes it → queries SQLite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A47"/>
          </a:solidFill>
          <a:ln w="19050">
            <a:solidFill>
              <a:srgbClr val="22D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70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3118104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captures metrics, logs &amp; traces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267919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770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3118104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Dynatrace SaaS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67919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A47"/>
          </a:solidFill>
          <a:ln w="19050">
            <a:solidFill>
              <a:srgbClr val="22D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770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3118104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correlates the telemetry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95344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" y="4334256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update in real 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895344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A47"/>
          </a:solidFill>
          <a:ln w="19050">
            <a:solidFill>
              <a:srgbClr val="22D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07992" y="4334256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is detected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895344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A47"/>
          </a:solidFill>
          <a:ln w="19050">
            <a:solidFill>
              <a:srgbClr val="22D3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02752" y="4334256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is evaluated against target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11496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202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" y="5550408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is generated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43400" y="5111496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5202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07992" y="5550408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opens the trace → finds root cause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38160" y="5111496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5202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02752" y="5550408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is resolved — MTTR reduced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thread is used to introduce every concept in the demo that follows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43879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Data Actually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opens the app; a request enters the 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3200400"/>
            <a:ext cx="320040" cy="0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8288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Captures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32461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 &amp; traces are captured at the host/pod level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200400"/>
            <a:ext cx="320040" cy="0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18288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4108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ActiveGate Routes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securely forwarded (optional hop)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12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77240" y="5989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SaaS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64465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is centrally stored and processed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60520" y="6400800"/>
            <a:ext cx="320040" cy="0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50292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5212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09160" y="5989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Correlates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64465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identified automatically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92440" y="6400800"/>
            <a:ext cx="320040" cy="0"/>
          </a:xfrm>
          <a:prstGeom prst="line">
            <a:avLst/>
          </a:prstGeom>
          <a:noFill/>
          <a:ln w="2540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12480" y="50292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641080" y="5212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641080" y="5989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41080" y="64465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get answers, not just data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354580" y="4572000"/>
            <a:ext cx="0" cy="457200"/>
          </a:xfrm>
          <a:prstGeom prst="line">
            <a:avLst/>
          </a:prstGeom>
          <a:noFill/>
          <a:ln w="25400">
            <a:solidFill>
              <a:srgbClr val="5B6E6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 LIVE DEMO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/>
                <a:ea typeface="Calibri"/>
                <a:cs typeface="Calibri"/>
              </a:rPr>
              <a:t>1 — </a:t>
            </a:r>
            <a:r>
              <a:rPr lang="en-US" sz="3000" b="1" dirty="0" err="1">
                <a:solidFill>
                  <a:srgbClr val="F5F7FA"/>
                </a:solidFill>
                <a:latin typeface="Calibri"/>
                <a:ea typeface="Calibri"/>
                <a:cs typeface="Calibri"/>
              </a:rPr>
              <a:t>OneAgent</a:t>
            </a:r>
            <a:r>
              <a:rPr lang="en-US" sz="3000" b="1" dirty="0">
                <a:solidFill>
                  <a:srgbClr val="F5F7FA"/>
                </a:solidFill>
                <a:latin typeface="Calibri"/>
                <a:ea typeface="Calibri"/>
                <a:cs typeface="Calibri"/>
              </a:rPr>
              <a:t> &amp; AWS Integration</a:t>
            </a:r>
            <a:endParaRPr lang="en-US" sz="3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1-oneagent-aws-setup.jpg"/>
          <p:cNvPicPr>
            <a:picLocks noChangeAspect="1"/>
          </p:cNvPicPr>
          <p:nvPr/>
        </p:nvPicPr>
        <p:blipFill>
          <a:blip r:embed="rId3"/>
          <a:srcRect l="17896" t="6239" b="94"/>
          <a:stretch>
            <a:fillRect/>
          </a:stretch>
        </p:blipFill>
        <p:spPr>
          <a:xfrm>
            <a:off x="5732445" y="1378337"/>
            <a:ext cx="6472414" cy="45868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Dynatrace to our AWS account and install OneAgent on the EC2 host.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dtwiz installer script pulls the correct OneAgent build for the platform automatically.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instrumentation of Flask code — OneAgent injects itself at the process level.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minutes, host, process, and AWS resource data starts flowing in.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6BD"/>
                </a:solidFill>
                <a:latin typeface="Calibri"/>
                <a:ea typeface="Calibri"/>
                <a:cs typeface="Calibri"/>
              </a:rPr>
              <a:t>Live Demo: Setup (5 min)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LIVE DEMO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Infrastructure as Code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Dynatrace's AWS integration deploys via a CloudFormation stack — repeatable and auditable.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provisions the IAM roles and monitoring configuration needed to read AWS metrics.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pattern our GitHub Actions pipeline follows for the app itself.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complete, AWS services appear automatically in the Dynatrace Clouds view.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Live Demo: AWS Integration (5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DB29F2-3A66-74D9-343C-AC090AD29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297" y="1339640"/>
            <a:ext cx="5971141" cy="50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22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 LIVE DEMO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— Infrastructure Monitoring (AWS EC2)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3-aws-ec2-dash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417320"/>
            <a:ext cx="57150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AWS EC2 dashboard shows instance count, type, and region at a glance.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 and status-check history are tracked per instance, out of the box.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pure ‘monitoring’ — healthy numbers here don't guarantee a healthy app.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 go one level deeper: the host itself.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Live Demo: Infrastructure (5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0826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LIVE DEMO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— Host Health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4-host-health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417320"/>
            <a:ext cx="57150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disk, and network are all visible for the EC2 host running our container.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tracked continuously — this feeds directly into our uptime SLO.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auto-discovers every process on the host without any extra configuration.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view an SRE opens first when a problem alert fires at 2 AM.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Live Demo: Host Health (5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LIVE DEMO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 — Process &amp; Container-Level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5-process-contain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417320"/>
            <a:ext cx="57150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breaks CPU and memory down per process — not just per host.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the Samsung SmartStore Docker container running Gunicorn directly.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endpoint (/health) confirms the app and database are both reachable.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granularity is what turns ‘the host is fine’ into ‘this exact process is the problem.’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Live Demo: Processes &amp; Containers (5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02943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RELIABILITY TARGETS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SLI, SLO, and Error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6-slo-c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417320"/>
            <a:ext cx="57150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(Service Level Indicator): the actual measurement — e.g. real response time.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(Service Level Objective): the business target — e.g. 99% of requests under 500ms.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how much failure is allowed before we breach the objective.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Samsung SmartStore's response-time SLO is sitting at 100% status against a 99% target.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SLI / SLO (5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21196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DISTRIBUTED TRACING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Capture &amp; Adaptive Traffic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7-trace-cap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417320"/>
            <a:ext cx="57150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captures a configurable volume of full-stack traces automatically.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Traffic Management keeps trace volume within the host's memory budget — important on a t3.micro.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trace can be replayed request-by-request across services.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Davis AI point to the exact slow hop, not just the slow host.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Tracing (part of 5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342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CUSTOM DASHBOARDS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Samsung SmartStore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70448" y="1344168"/>
            <a:ext cx="5861304" cy="5038344"/>
          </a:xfrm>
          <a:prstGeom prst="roundRect">
            <a:avLst>
              <a:gd name="adj" fmla="val 1089"/>
            </a:avLst>
          </a:prstGeom>
          <a:solidFill>
            <a:srgbClr val="141C2E"/>
          </a:solidFill>
          <a:ln w="12700">
            <a:solidFill>
              <a:srgbClr val="26314C"/>
            </a:solidFill>
            <a:prstDash val="solid"/>
          </a:ln>
        </p:spPr>
      </p:sp>
      <p:pic>
        <p:nvPicPr>
          <p:cNvPr id="5" name="Image 0" descr="assets/08-custom-dash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417320"/>
            <a:ext cx="57150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this app: average response time, total vs. failed requests, client errors.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523744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is computed live as 5xx ÷ total requests — our headline reliability number.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282696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traffic panels sit side by side so a spike in one is instantly correlated with the other.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0584" cy="1005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23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dashboard the team actually watches during a release.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Dashboards Deep Dive (10 min)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58671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/>
                <a:ea typeface="Calibri"/>
                <a:cs typeface="Calibri"/>
              </a:rPr>
              <a:t> ROOT CAUSE ANALYSIS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AI: “Checkout Is Slow”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41C2E"/>
          </a:solidFill>
          <a:ln w="15875">
            <a:solidFill>
              <a:srgbClr val="26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complain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121408"/>
            <a:ext cx="0" cy="118872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41C2E"/>
          </a:solidFill>
          <a:ln w="15875">
            <a:solidFill>
              <a:srgbClr val="2631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Problem opened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2807208"/>
            <a:ext cx="0" cy="118872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9260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41C2E"/>
          </a:solidFill>
          <a:ln w="15875">
            <a:solidFill>
              <a:srgbClr val="263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flagged high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3493008"/>
            <a:ext cx="0" cy="118872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6118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41C2E"/>
          </a:solidFill>
          <a:ln w="15875">
            <a:solidFill>
              <a:srgbClr val="2631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118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 opened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4178808"/>
            <a:ext cx="0" cy="118872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42976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41C2E"/>
          </a:solidFill>
          <a:ln w="15875">
            <a:solidFill>
              <a:srgbClr val="2631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976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 identified as slow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4864608"/>
            <a:ext cx="0" cy="118872"/>
          </a:xfrm>
          <a:prstGeom prst="line">
            <a:avLst/>
          </a:prstGeom>
          <a:noFill/>
          <a:ln w="19050">
            <a:solidFill>
              <a:srgbClr val="3A47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49834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73328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8348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 — issue fixed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55280" y="155448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7233D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83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doesn't just say ‘CPU is high.’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host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081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process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3849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dependency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2336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root cause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4892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instead of leaving you to investigate manually.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— Davis AI &amp; Production Example (5 min)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SmartStore · Dynatrace KT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83844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“The Checkout App Is Slow”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8105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81051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report checkout is slow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0" cy="411480"/>
          </a:xfrm>
          <a:prstGeom prst="line">
            <a:avLst/>
          </a:prstGeom>
          <a:noFill/>
          <a:ln w="25400">
            <a:solidFill>
              <a:srgbClr val="1E5C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6791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6791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Payment Service → Database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0" cy="411480"/>
          </a:xfrm>
          <a:prstGeom prst="line">
            <a:avLst/>
          </a:prstGeom>
          <a:noFill/>
          <a:ln w="25400">
            <a:solidFill>
              <a:srgbClr val="1E5C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3547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54787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pod in CrashLoopBackOff; another has high response time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023360"/>
            <a:ext cx="0" cy="411480"/>
          </a:xfrm>
          <a:prstGeom prst="line">
            <a:avLst/>
          </a:prstGeom>
          <a:noFill/>
          <a:ln w="25400">
            <a:solidFill>
              <a:srgbClr val="1E5C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44165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44165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 delay pinpointed via distributed tracing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4892040"/>
            <a:ext cx="0" cy="411480"/>
          </a:xfrm>
          <a:prstGeom prst="line">
            <a:avLst/>
          </a:prstGeom>
          <a:noFill/>
          <a:ln w="25400">
            <a:solidFill>
              <a:srgbClr val="1E5C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234440" y="5285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52852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bottleneck found in minutes — MTTR drops sharply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E4A4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Dynatrace: hours of manual log-checking across services. With Dynatrace: minutes, automatically.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&gt;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logs + traces together explain WHY, not just WHAT.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 = zero-touch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DaemonSet per node auto-discovers everything, no code changes.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7332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05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ActiveGate secures the path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 common in locked-down or air-gapped environments.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7332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1605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cuts MTTR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root-cause analysis replaces manual log-hunting.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 the Dynatrace KT session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KT Session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53</cp:revision>
  <dcterms:created xsi:type="dcterms:W3CDTF">2026-08-01T17:33:14Z</dcterms:created>
  <dcterms:modified xsi:type="dcterms:W3CDTF">2026-08-02T15:41:25Z</dcterms:modified>
</cp:coreProperties>
</file>